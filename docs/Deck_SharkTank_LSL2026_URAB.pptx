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01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STRATEGY LAB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IA Agéntica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Defensoría del Pueblo — URAB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módulos M1–M8  ·  Piloto ejecutado: 21 mayo 2026  ·  Exactitud M2: 90%  ·  Costo: $0.064 USD / 10 peticiones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20,417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Radicados dataset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4320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M2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4.5x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Año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859536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github.com/MireyaCamacho/agentes-defensoria-lsl2026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4531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Derecho · Universidad Externado de Colombia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cuantitativo sobre N = 20,417 radicados simulados · URAB Bogotá · 90 días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1005840"/>
            <a:ext cx="137160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424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0972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triage · 56.2% urgentes superan 8h hábiles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" y="1755648"/>
            <a:ext cx="137160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7922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184708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carga entre profesionales · de 274 a 2,103 casos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4592" y="2505456"/>
            <a:ext cx="137160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25420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59689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 con doble registro manual IRIS/VisionWeb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4592" y="3255264"/>
            <a:ext cx="137160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334670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del mismo ciudadano · 0% detección actual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4592" y="4005072"/>
            <a:ext cx="137160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4041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91640" y="409651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unificada del historial por ciudadano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4592" y="4663440"/>
            <a:ext cx="8778240" cy="347472"/>
          </a:xfrm>
          <a:prstGeom prst="roundRect">
            <a:avLst>
              <a:gd name="adj" fmla="val 15789"/>
            </a:avLst>
          </a:prstGeom>
          <a:solidFill>
            <a:srgbClr val="E8EFF7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709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proyectado: 13,320 horas/año perdidas en doble registro = 6.4 FTE que podrían dedicarse a gestión misional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M1–M8 — 8 módulos integrados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agéntica de procesos · Supervisión humana en los 4 puntos de mayor riesgo jurídico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10058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0607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" y="131673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+ faltantes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" y="15910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extracción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77440" y="10058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0607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131673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+ XAI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15910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Tardíos: 56%→4.5%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0607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31673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balanceada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15910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7.7x→2.1x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607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131673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Anti-dup.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15910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≥85%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" y="28803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29352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" y="31912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360°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" y="34655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&lt;30s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77440" y="28803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9352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377440" y="31912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HITL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4655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Borradores ≥60%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8803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9352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17720" y="31912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IRIS/VisionWeb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17720" y="34655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reg.: 72%→5%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0" y="28803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9352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0" y="31912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+ derechos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34655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&lt;24h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926080" y="2084832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9DCC8"/>
          </a:solidFill>
          <a:ln w="12700">
            <a:solidFill>
              <a:srgbClr val="D3540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926080" y="2112264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HITL · el profesional siempre decide en: urgencias CRÍTICO, NNA, respuestas de fondo, acumulación de expedientes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piloto real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mayo de 2026 · 10 peticiones · dataset N=20,417 · Anthropic Claude Haiku 4.5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075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1947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M2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etiquetas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386584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95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Meta ≥88%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075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1947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carga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M3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386584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395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Meta ≤2.1x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075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1947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IRIS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VisionWeb M7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2386584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395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0 doble reg.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9718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136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28600" y="37764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HITL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215384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24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Protocolo activo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136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200400" y="37764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petición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4215384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4224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29718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136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172200" y="37764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4215384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4224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Soberanía total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modelos — evidencia empírica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resultados medidos sobre N=20,417 radicados · Train 80% / Test 20% (~4,084 casos)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960120"/>
            <a:ext cx="329184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9784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93008" y="960120"/>
            <a:ext cx="118872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9784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18304" y="960120"/>
            <a:ext cx="91440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718304" y="9784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960120"/>
            <a:ext cx="155448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978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Costo/petición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0336" y="960120"/>
            <a:ext cx="164592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7260336" y="978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 datos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" y="1325880"/>
            <a:ext cx="329184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3008" y="1325880"/>
            <a:ext cx="118872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18304" y="1325880"/>
            <a:ext cx="91440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1325880"/>
            <a:ext cx="155448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0336" y="1325880"/>
            <a:ext cx="164592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" y="1417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léxicas (sin IA)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38728" y="1417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4024" y="14173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06056" y="1417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" y="1965960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3008" y="1965960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18304" y="1965960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196596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0336" y="1965960"/>
            <a:ext cx="1645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" y="2057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+ TF-IDF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38728" y="2057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64024" y="20574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15000" y="20574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06056" y="2057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64592" y="2606040"/>
            <a:ext cx="329184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93008" y="2606040"/>
            <a:ext cx="118872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304" y="2606040"/>
            <a:ext cx="91440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2606040"/>
            <a:ext cx="155448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60336" y="2606040"/>
            <a:ext cx="1645920" cy="566928"/>
          </a:xfrm>
          <a:prstGeom prst="rect">
            <a:avLst/>
          </a:prstGeom>
          <a:solidFill>
            <a:srgbClr val="F2F7FA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" y="2697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 on-premise (medido)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538728" y="26974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64024" y="26974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58.1%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15000" y="26974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06056" y="2697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On-premise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64592" y="3246120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93008" y="3246120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18304" y="3246120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324612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60336" y="3246120"/>
            <a:ext cx="1645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" y="33375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Haiku 4.5 (piloto real)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538728" y="33375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64024" y="33375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715000" y="33375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~$0.006 USD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306056" y="3337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Cloud API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64592" y="4069080"/>
            <a:ext cx="8778240" cy="777240"/>
          </a:xfrm>
          <a:prstGeom prst="roundRect">
            <a:avLst>
              <a:gd name="adj" fmla="val 9412"/>
            </a:avLst>
          </a:prstGeom>
          <a:solidFill>
            <a:srgbClr val="EEF3F8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1148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 BETO on-premise alcanzamos el 82.7% sin enviar un solo dato al exterior. Anthropic da 7 puntos más. Esa diferencia es la decisión de la Defensoría — el sistema está diseñado para cualquiera de las dos con una línea de código."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datos de los ciudadanos van a servidores extranjeros?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en producción, no. Tres rutas sin enviar datos al exterior: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On-premise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BETO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82.7% exactitud medida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Defensoría / MinTIC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costo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234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GovCloud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18745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soberana colombiana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CONPES 4144/2025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Jurisdicción nacional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234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Anthropic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cero retención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borrados en milisegundos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modelo bancos/salud COL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22452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entre Anthropic y BETO on-premise es una sola línea en config.py — no un rediseño. (§7.1 RFP: neutralidad de proveedor)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Soberanía de datos garantizada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El profesional siempre decide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puntos de supervisión humana obligatoria · La IA clasifica, prioriza y sugiere — el funcionario decide, valida y firma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1005840"/>
            <a:ext cx="54864" cy="51206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241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 CRÍTICO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5272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 vital · NNA en peligro · VBG inminente. Hard-coded: alerta forzada independiente del modelo.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" y="175564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3540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7739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NNA o discapacidad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02536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caso con menor de edad o persona con discapacidad, sin importar la urgencia asignada por M2.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" y="2505456"/>
            <a:ext cx="54864" cy="51206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5237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fondo M6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2752344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genera borradores editables. Ninguna respuesta sustancial se envía sin revisión y firma del profesional.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3255264"/>
            <a:ext cx="54864" cy="512064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2735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Acumulación expedientes M4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50215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sugiere la acumulación con evidencia. El profesional aprueba. El sistema nunca fusiona expedientes solo.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4005072"/>
            <a:ext cx="54864" cy="512064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0233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M2 &lt; 70%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425196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dialectos regionales o texto fragmentado, el sistema reduce la urgencia y escala a revisión humana.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y enfoque diferencial (§5.2 RFP)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vulnerable tiene al menos una medida técnica hard-coded — no depende de la confianza del modelo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10058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1521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5361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palabras clave hard-coded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0058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1521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5361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obligatorio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90288" y="10058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1521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Discapacidad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5361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siempre activo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0058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1521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Étnicas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94576" y="15361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HITL 60% (vs 70%)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26517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27980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Víctimas conflicto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" y="318211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forzadas M6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6517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7980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mayores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318211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M4+M5 anti-reenvío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90288" y="26517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27980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81728" y="318211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PPT/pasaporte válido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224528"/>
            <a:ext cx="8778240" cy="640080"/>
          </a:xfrm>
          <a:prstGeom prst="roundRect">
            <a:avLst>
              <a:gd name="adj" fmla="val 11429"/>
            </a:avLst>
          </a:prstGeom>
          <a:solidFill>
            <a:srgbClr val="EDE5F5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2793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público anual de equidad comprometido en Fase 4 · Auditoría de recall diferenciado por grupo · Métricas de paridad en reparto M3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y plan de financiamiento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verificable desde el Día 1 de la Fase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155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$2,000M COP/año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" y="17190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registro M7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155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+7,600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68880" y="17190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Urgentes atendidos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tiempo / año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155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~$444M COP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17190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1155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17190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" y="26974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financiamiento disponibles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" y="30632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CONPES 4144/2025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6 IA sector público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822192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C0E3E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479,000M COP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30632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TIC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3822192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C0E3E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digital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90288" y="30632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 / BID / USAID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Cooperación DDHH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3822192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C0E3E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exacto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VBG y víctimas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03136" y="30632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94576" y="3154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Defensoría DTI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 ordinaria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86016" y="3822192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C0E3E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6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4.5x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— NIST AI RMF + ISO/IEC 42001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cláusulas verificadas · Verificador ejecutable en gobernanza/verificador_nist_iso.py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9601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E8EFF7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" y="1371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6032" y="1965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conformes · 11 parciales · 0 no conformes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E0F2F4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42001:2023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conformes · 12 parciales · 0 no conformes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" y="280720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C8D6E5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2825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CONPES 4144/2025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843784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6 adopción IA sector público. Elegible Fondo 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" y="335584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C8D6E5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33741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 007/2025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392424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obligatorio M2-M4. Bitácora inmutable M6-M7. Inventario de algoritmos.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4592" y="390448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C8D6E5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3922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1581/2012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941064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diferencial M8. On-premise para datos sensibles. DPO designado.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445312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C8D6E5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" y="44714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29 CP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4489704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completa: a quién y por qué en cada reparto M3. Canal impugnación ≤5 días.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del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· El proveedor de IA es intercambiable con una línea en config.py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piloto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 días)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20,417 radicados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profesionales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AnthropicCloud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~$0.006/pet.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377440"/>
            <a:ext cx="274320" cy="2743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2944368" y="2359152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155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regional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(Año 2)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75564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radicados/año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80 profesionales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 on-premise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$0/petición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377440"/>
            <a:ext cx="274320" cy="2743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5870448" y="2359152"/>
            <a:ext cx="237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155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nacional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(Año 3)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75564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 radicados/año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300 profesionales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 GovCloud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$0/petición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" y="4224528"/>
            <a:ext cx="8778240" cy="658368"/>
          </a:xfrm>
          <a:prstGeom prst="roundRect">
            <a:avLst>
              <a:gd name="adj" fmla="val 11111"/>
            </a:avLst>
          </a:prstGeom>
          <a:solidFill>
            <a:srgbClr val="EBF0F6"/>
          </a:solidFill>
          <a:ln w="12700">
            <a:solidFill>
              <a:srgbClr val="D1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2793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Año 2, al migrar a BETO on-premise, el costo de API cae a $0 — el ahorro financia la auditoría algorítmica semestral y el fine-tuning con el corpus real de URAB.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fases — hoja de ruta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2179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fases · 13+ meses · Entregables verificables en cada hito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960120"/>
            <a:ext cx="1664208" cy="3931920"/>
          </a:xfrm>
          <a:prstGeom prst="roundRect">
            <a:avLst>
              <a:gd name="adj" fmla="val 5495"/>
            </a:avLst>
          </a:prstGeom>
          <a:solidFill>
            <a:srgbClr val="F2F2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05156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Alistamiento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09344"/>
            <a:ext cx="1389888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27632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975104"/>
            <a:ext cx="148132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Flujograma as-is/to-be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real URAB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gestión del cambio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2377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11096" y="960120"/>
            <a:ext cx="1664208" cy="3931920"/>
          </a:xfrm>
          <a:prstGeom prst="roundRect">
            <a:avLst>
              <a:gd name="adj" fmla="val 5495"/>
            </a:avLst>
          </a:prstGeom>
          <a:solidFill>
            <a:srgbClr val="F2F2F2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11096" y="105156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48256" y="1609344"/>
            <a:ext cx="1389888" cy="274320"/>
          </a:xfrm>
          <a:prstGeom prst="roundRect">
            <a:avLst>
              <a:gd name="adj" fmla="val 20000"/>
            </a:avLst>
          </a:prstGeom>
          <a:solidFill>
            <a:srgbClr val="185FA5"/>
          </a:solidFill>
          <a:ln/>
        </p:spPr>
      </p:sp>
      <p:sp>
        <p:nvSpPr>
          <p:cNvPr id="14" name="Text 12"/>
          <p:cNvSpPr/>
          <p:nvPr/>
        </p:nvSpPr>
        <p:spPr>
          <a:xfrm>
            <a:off x="2048256" y="1627632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5–10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02536" y="1975104"/>
            <a:ext cx="148132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APA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IRIS/VisionWeb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algoritmos público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02736" y="2377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85032" y="960120"/>
            <a:ext cx="1664208" cy="3931920"/>
          </a:xfrm>
          <a:prstGeom prst="roundRect">
            <a:avLst>
              <a:gd name="adj" fmla="val 5495"/>
            </a:avLst>
          </a:prstGeom>
          <a:solidFill>
            <a:srgbClr val="F2F2F2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105156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22192" y="1609344"/>
            <a:ext cx="1389888" cy="274320"/>
          </a:xfrm>
          <a:prstGeom prst="roundRect">
            <a:avLst>
              <a:gd name="adj" fmla="val 20000"/>
            </a:avLst>
          </a:prstGeom>
          <a:solidFill>
            <a:srgbClr val="D35400"/>
          </a:solidFill>
          <a:ln/>
        </p:spPr>
      </p:sp>
      <p:sp>
        <p:nvSpPr>
          <p:cNvPr id="20" name="Text 18"/>
          <p:cNvSpPr/>
          <p:nvPr/>
        </p:nvSpPr>
        <p:spPr>
          <a:xfrm>
            <a:off x="3822192" y="1627632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11–24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76472" y="1975104"/>
            <a:ext cx="148132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M1–M8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sesgos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BETO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76672" y="2377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58968" y="960120"/>
            <a:ext cx="1664208" cy="3931920"/>
          </a:xfrm>
          <a:prstGeom prst="roundRect">
            <a:avLst>
              <a:gd name="adj" fmla="val 5495"/>
            </a:avLst>
          </a:prstGeom>
          <a:solidFill>
            <a:srgbClr val="F2F2F2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105156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96128" y="1609344"/>
            <a:ext cx="1389888" cy="27432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/>
        </p:spPr>
      </p:sp>
      <p:sp>
        <p:nvSpPr>
          <p:cNvPr id="26" name="Text 24"/>
          <p:cNvSpPr/>
          <p:nvPr/>
        </p:nvSpPr>
        <p:spPr>
          <a:xfrm>
            <a:off x="5596128" y="1627632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25–36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50408" y="1975104"/>
            <a:ext cx="148132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≥20 prof.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M8 activos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0608" y="2377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32904" y="960120"/>
            <a:ext cx="1664208" cy="3931920"/>
          </a:xfrm>
          <a:prstGeom prst="roundRect">
            <a:avLst>
              <a:gd name="adj" fmla="val 5495"/>
            </a:avLst>
          </a:prstGeom>
          <a:solidFill>
            <a:srgbClr val="F2F2F2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32904" y="105156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70064" y="1609344"/>
            <a:ext cx="1389888" cy="274320"/>
          </a:xfrm>
          <a:prstGeom prst="roundRect">
            <a:avLst>
              <a:gd name="adj" fmla="val 20000"/>
            </a:avLst>
          </a:prstGeom>
          <a:solidFill>
            <a:srgbClr val="6C3483"/>
          </a:solidFill>
          <a:ln/>
        </p:spPr>
      </p:sp>
      <p:sp>
        <p:nvSpPr>
          <p:cNvPr id="32" name="Text 30"/>
          <p:cNvSpPr/>
          <p:nvPr/>
        </p:nvSpPr>
        <p:spPr>
          <a:xfrm>
            <a:off x="7370064" y="1627632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13+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24344" y="1975104"/>
            <a:ext cx="148132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IA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externa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equidad público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7160" y="484632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2026 · Defensoría del Pueblo URAB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argumento que cierra el pitch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7782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13,320 horas/año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914400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liberadas del doble registro = 6.4 FTE redirigiéndose a gestión misional. Verificable desde el Día 1 de la Fase 3.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910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+7,600 urgentes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627632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adicionales atendidos a tiempo por año. Cada uno es un derecho garantizado, no una métrica de eficiencia.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042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4.5x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340864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Año 1. Basado únicamente en las horas liberadas. Conservador y verificable sin supuestos cualitativos.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75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82.7% on-premise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054096"/>
            <a:ext cx="6080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BETO gratuito, sin enviar datos al exterior. La junta elige soberanía o exactitud — el sistema soporta las dos.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4023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github.com/MireyaCamacho/agentes-defensoria-lsl2026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4348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Strategy Lab 2026 · Facultad de Derecho · Universidad Externado de Colombia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IA Agéntica — Defensoría del Pueblo URAB</dc:title>
  <dc:subject>PptxGenJS Presentation</dc:subject>
  <dc:creator>LSL 2026</dc:creator>
  <cp:lastModifiedBy>LSL 2026</cp:lastModifiedBy>
  <cp:revision>1</cp:revision>
  <dcterms:created xsi:type="dcterms:W3CDTF">2026-05-25T02:39:51Z</dcterms:created>
  <dcterms:modified xsi:type="dcterms:W3CDTF">2026-05-25T02:39:51Z</dcterms:modified>
</cp:coreProperties>
</file>